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22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859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Quorum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09344"/>
            <a:ext cx="4389120" cy="0"/>
          </a:xfrm>
          <a:prstGeom prst="line">
            <a:avLst/>
          </a:prstGeom>
          <a:noFill/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student bodies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things done.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student bodies,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and small organisations — built for Africa.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709160"/>
            <a:ext cx="1394460" cy="219456"/>
          </a:xfrm>
          <a:prstGeom prst="roundRect">
            <a:avLst>
              <a:gd name="adj" fmla="val 50000"/>
            </a:avLst>
          </a:prstGeom>
          <a:solidFill>
            <a:srgbClr val="EBF0FE"/>
          </a:solidFill>
          <a:ln w="12700">
            <a:solidFill>
              <a:srgbClr val="EB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09160"/>
            <a:ext cx="1394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Thinkathon 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19072" y="4709160"/>
            <a:ext cx="2948940" cy="219456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4709160"/>
            <a:ext cx="29489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Live at quorum-taupe.vercel.app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48072" y="262890"/>
            <a:ext cx="3813048" cy="4617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354330"/>
            <a:ext cx="363016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bodies run on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and spreadsheets.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72491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93392"/>
            <a:ext cx="54864" cy="1170432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 verbally in group chats. Action items get buried. Nothing is tracked or followed 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01568" y="1993392"/>
            <a:ext cx="272491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993392"/>
            <a:ext cx="54864" cy="1170432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collection is manual chaos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47872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messages, individual DMs, and bank transfer screenshots shared back and forth every semester.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1993392"/>
            <a:ext cx="272491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993392"/>
            <a:ext cx="54864" cy="1170432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overhead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cross-checking 40–60 payment screenshots per cycle — a full afternoon of unpaid admin 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20240" y="3401568"/>
            <a:ext cx="272491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20240" y="3401568"/>
            <a:ext cx="54864" cy="1170432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3511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amnesia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66544" y="38039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 in personal Notes apps. Leadership changes annually. Decisions and history disappear.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3401568"/>
            <a:ext cx="272491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3401568"/>
            <a:ext cx="54864" cy="1170432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3511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alternative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74336" y="38039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costs $6–18/user/month. Notion has no dues or fundraising. Nothing fits a 10-person exco.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Seven modules.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how student bodies actually operate.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9202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25968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profiles, level filters, invite links, bulk CSV export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1810512"/>
            <a:ext cx="19202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0048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Tracker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0048" y="25968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submission, AI-verified receipts, live defaulter list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1144" y="1810512"/>
            <a:ext cx="19202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Programs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5968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creation, RSVP, WhatsApp OG preview links, attendance analytics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0256" y="1810512"/>
            <a:ext cx="19202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48272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48272" y="25968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builder, quorum check, live minutes, action items, PDF export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" y="3291840"/>
            <a:ext cx="25603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" y="40782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 campaigns, public donation page, contributor ledger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3291840"/>
            <a:ext cx="25603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19856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19856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19856" y="40782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line items, planned vs actual spend, variance flags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71032" y="3291840"/>
            <a:ext cx="25603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99048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9048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Links &amp; Portal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9048" y="40782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short links, custom slugs, QR codes, public body portal page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Live. Deployed. Open source.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335024"/>
            <a:ext cx="1472184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75688" y="1335024"/>
            <a:ext cx="1472184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33502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48456" y="1335024"/>
            <a:ext cx="928116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335024"/>
            <a:ext cx="928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21224" y="1335024"/>
            <a:ext cx="1239012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335024"/>
            <a:ext cx="12390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96596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1874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quorum-taupe.vercel.app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532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532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quorum-9djb.onrender.com/docs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8269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191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meeting minutes + task assignment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4106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849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github.com/Sammybams/Quorum — public repo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71407" y="953262"/>
            <a:ext cx="3970841" cy="3419856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1135" y="1062990"/>
            <a:ext cx="3751385" cy="3200400"/>
          </a:xfrm>
          <a:prstGeom prst="rect">
            <a:avLst/>
          </a:prstGeom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pic>
      <p:sp>
        <p:nvSpPr>
          <p:cNvPr id="29" name="Text 26"/>
          <p:cNvSpPr/>
          <p:nvPr/>
        </p:nvSpPr>
        <p:spPr>
          <a:xfrm>
            <a:off x="4981135" y="4354830"/>
            <a:ext cx="37513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dashboard — live on Vercel · full 7-module platform deployed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use AI where it adds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value — not for show.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collection — two-path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482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3258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" y="2340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clicks Pay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" y="281635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Quorum 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7249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286000"/>
            <a:ext cx="1325880" cy="1024128"/>
          </a:xfrm>
          <a:prstGeom prst="rect">
            <a:avLst/>
          </a:prstGeom>
          <a:solidFill>
            <a:srgbClr val="16A34A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75688" y="2340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75688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checkout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75688" y="281635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transfer, USSD, virtual account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7249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286000"/>
            <a:ext cx="13258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38728" y="2340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38728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38728" y="281635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status auto-updates. Zero manual work.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419856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1985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17320" y="3419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cash payments or transfers made outside Quorum: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657600"/>
            <a:ext cx="1325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" y="3913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receipt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alert screenshot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40965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965960" y="3657600"/>
            <a:ext cx="1325880" cy="960120"/>
          </a:xfrm>
          <a:prstGeom prst="rect">
            <a:avLst/>
          </a:prstGeom>
          <a:solidFill>
            <a:srgbClr val="1B5EF7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75688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B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75688" y="3913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075688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A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amount, sender, date, ref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0965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29000" y="3657600"/>
            <a:ext cx="13258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38728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38728" y="3913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confirms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38728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or rejects if mismatch.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1755648"/>
            <a:ext cx="3840480" cy="2889504"/>
          </a:xfrm>
          <a:prstGeom prst="rect">
            <a:avLst/>
          </a:prstGeom>
          <a:solidFill>
            <a:srgbClr val="F8FA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1755648"/>
            <a:ext cx="3840480" cy="36576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1847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2103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Claude feature — turns meetings into structured records automatically.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83480" y="2596896"/>
            <a:ext cx="164592" cy="164592"/>
          </a:xfrm>
          <a:prstGeom prst="ellipse">
            <a:avLst/>
          </a:prstGeom>
          <a:solidFill>
            <a:srgbClr val="EBF0FE"/>
          </a:solidFill>
          <a:ln w="7620">
            <a:solidFill>
              <a:srgbClr val="1B5E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5786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39512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arrives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39512" y="2770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Auto-synced from Google Meet, Fireflies, or Zoom — or pasted manually.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61204" y="2761488"/>
            <a:ext cx="0" cy="27432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3480" y="3108960"/>
            <a:ext cx="164592" cy="164592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090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39512" y="3072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processes it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39512" y="3282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minutes, extracts every action item and decision.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61204" y="3273552"/>
            <a:ext cx="0" cy="27432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83480" y="3621024"/>
            <a:ext cx="164592" cy="164592"/>
          </a:xfrm>
          <a:prstGeom prst="ellipse">
            <a:avLst/>
          </a:prstGeom>
          <a:solidFill>
            <a:srgbClr val="EBF0FE"/>
          </a:solidFill>
          <a:ln w="7620">
            <a:solidFill>
              <a:srgbClr val="1B5E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3602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39512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auto-assigned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239512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item becomes a task assigned to the named exco member.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61204" y="3785616"/>
            <a:ext cx="0" cy="27432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83480" y="4133088"/>
            <a:ext cx="164592" cy="164592"/>
          </a:xfrm>
          <a:prstGeom prst="ellipse">
            <a:avLst/>
          </a:prstGeom>
          <a:solidFill>
            <a:srgbClr val="EBF0FE"/>
          </a:solidFill>
          <a:ln w="7620">
            <a:solidFill>
              <a:srgbClr val="1B5E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4114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39512" y="40965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sent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239512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members receive task details and meeting context.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02920" y="4773168"/>
            <a:ext cx="8138160" cy="201168"/>
          </a:xfrm>
          <a:prstGeom prst="rect">
            <a:avLst/>
          </a:prstGeom>
          <a:solidFill>
            <a:srgbClr val="F0FDF4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77316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eliminates manual verification. Claude handles what gateways can't — unstructured text, meeting transcripts, and narrative intelligence.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underserved market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African universities.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8229600" cy="877824"/>
          </a:xfrm>
          <a:prstGeom prst="rect">
            <a:avLst/>
          </a:prstGeom>
          <a:solidFill>
            <a:srgbClr val="F0F4FE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8229600" cy="0"/>
          </a:xfrm>
          <a:prstGeom prst="line">
            <a:avLst/>
          </a:prstGeom>
          <a:noFill/>
          <a:ln w="10160">
            <a:solidFill>
              <a:srgbClr val="C5D4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93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5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304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2768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5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₦360M+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999232" y="1993392"/>
            <a:ext cx="0" cy="548640"/>
          </a:xfrm>
          <a:prstGeom prst="line">
            <a:avLst/>
          </a:prstGeom>
          <a:noFill/>
          <a:ln w="7620">
            <a:solidFill>
              <a:srgbClr val="C5D4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9202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university student bodies across Africa — Nigeria plus Ghana, Kenya, South Africa — that need structured operations tools but cannot afford enterprise software like Google Workspace or Notion.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993392"/>
            <a:ext cx="0" cy="548640"/>
          </a:xfrm>
          <a:prstGeom prst="line">
            <a:avLst/>
          </a:prstGeom>
          <a:noFill/>
          <a:ln w="7620">
            <a:solidFill>
              <a:srgbClr val="C5D4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9933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~1,000 African universities × 30 bodies × ₦12,000/year = ₦360M (Nigeria alone: 200 × 30 × ₦12k = ₦72M)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229600" cy="877824"/>
          </a:xfrm>
          <a:prstGeom prst="rect">
            <a:avLst/>
          </a:prstGeom>
          <a:solidFill>
            <a:srgbClr val="E8EEFD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8229600" cy="0"/>
          </a:xfrm>
          <a:prstGeom prst="line">
            <a:avLst/>
          </a:prstGeom>
          <a:noFill/>
          <a:ln w="10160">
            <a:solidFill>
              <a:srgbClr val="A8BE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535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4A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264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2898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4A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₦72M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2999232" y="2953512"/>
            <a:ext cx="0" cy="548640"/>
          </a:xfrm>
          <a:prstGeom prst="line">
            <a:avLst/>
          </a:prstGeom>
          <a:noFill/>
          <a:ln w="7620">
            <a:solidFill>
              <a:srgbClr val="A8BE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288036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university student bodies specifically — where the pain is most acute, digital adoption is rising fastest, and Quorum's local-first design (Nigerian bank receipts, ₦ pricing, WhatsApp-native links) gives it a structural advantage.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953512"/>
            <a:ext cx="0" cy="548640"/>
          </a:xfrm>
          <a:prstGeom prst="line">
            <a:avLst/>
          </a:prstGeom>
          <a:noFill/>
          <a:ln w="7620">
            <a:solidFill>
              <a:srgbClr val="A8BE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2953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200 universities × 30 bodies × ₦12,000/year = ₦72M addressable annual revenue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8229600" cy="877824"/>
          </a:xfrm>
          <a:prstGeom prst="rect">
            <a:avLst/>
          </a:prstGeom>
          <a:solidFill>
            <a:srgbClr val="FEFCE8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49040"/>
            <a:ext cx="8229600" cy="0"/>
          </a:xfrm>
          <a:prstGeom prst="line">
            <a:avLst/>
          </a:prstGeom>
          <a:noFill/>
          <a:ln w="1016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4D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4224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72768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54D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₦15M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1572768" y="4334256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72768" y="433425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target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999232" y="3913632"/>
            <a:ext cx="0" cy="548640"/>
          </a:xfrm>
          <a:prstGeom prst="line">
            <a:avLst/>
          </a:prstGeom>
          <a:noFill/>
          <a:ln w="762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384048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(validation): 200 workspaces, 30 paid → ₦2.4M. Year 2 (scale): 500 workspaces across 20 campuses, 125 paid at ₦11,600 blended ARPU → ₦15M. Conversion improves as product matures and referral loops activate.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3913632"/>
            <a:ext cx="0" cy="548640"/>
          </a:xfrm>
          <a:prstGeom prst="line">
            <a:avLst/>
          </a:prstGeom>
          <a:noFill/>
          <a:ln w="762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39136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125 paid × ₦11,600 blended ARPU × 10 active months = ₦14.5M ≈ ₦15M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84632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NUC 2024 — 200 accredited universities; Statista Africa SaaS Market 2024; World Bank Nigeria Education Data 2023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tiered pricing.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student budgets.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workspace has a Super Admin (exco president), Subteam Leads, and Core Members. Pricing scales with team size — not with the wider membership.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2633472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84832"/>
            <a:ext cx="2633472" cy="36576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45059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3145536"/>
            <a:ext cx="2267712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18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admin seats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4198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AI receipt verifications/month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3803904"/>
            <a:ext cx="64008" cy="64008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4904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4005072"/>
            <a:ext cx="64008" cy="64008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95020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tracker with receipt upload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64008" cy="64008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513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creator with shareable links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4407408"/>
            <a:ext cx="64008" cy="64008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5254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board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4608576"/>
            <a:ext cx="64008" cy="64008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5537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fundraising campaign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2084832"/>
            <a:ext cx="2633472" cy="2706624"/>
          </a:xfrm>
          <a:prstGeom prst="rect">
            <a:avLst/>
          </a:prstGeom>
          <a:solidFill>
            <a:srgbClr val="F0F4FE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2084832"/>
            <a:ext cx="2633472" cy="36576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19456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56432" y="245059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₦8,000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56432" y="292608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·  ₦86,400/year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56432" y="3145536"/>
            <a:ext cx="2267712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218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admin seats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56432" y="34198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verifications/month + minutes assistant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56432" y="3803904"/>
            <a:ext cx="64008" cy="64008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374904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56432" y="4005072"/>
            <a:ext cx="64008" cy="64008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395020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module (agenda, quorum, minutes)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56432" y="4206240"/>
            <a:ext cx="64008" cy="64008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41513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56432" y="4407408"/>
            <a:ext cx="64008" cy="64008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435254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analytics dashboard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56432" y="4608576"/>
            <a:ext cx="64008" cy="64008"/>
          </a:xfrm>
          <a:prstGeom prst="ellipse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45537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link click analytics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44184" y="2084832"/>
            <a:ext cx="2633472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44184" y="2084832"/>
            <a:ext cx="2633472" cy="3657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219456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227064" y="2450592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₦20,000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227064" y="2926080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·  ₦216,000/year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27064" y="3145536"/>
            <a:ext cx="2267712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27064" y="3218688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admin seats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27064" y="34198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AI verifications/month + analytics reports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27064" y="3803904"/>
            <a:ext cx="64008" cy="640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374904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27064" y="4005072"/>
            <a:ext cx="64008" cy="640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395020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for portal page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27064" y="4206240"/>
            <a:ext cx="64008" cy="640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41513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branding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27064" y="4407408"/>
            <a:ext cx="64008" cy="640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435254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analytics reports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27064" y="4608576"/>
            <a:ext cx="64008" cy="640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455371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role builder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AI credits available: ₦1,500 / 50 credits  ·  ₦4,500 / 200 credits  ·  ₦9,000 / 500 credits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REPORT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student body deserves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know how well they performed.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each semester, Claude reads all platform data and generates a full organisational performance report — the kind of document a president can present to the general assembly, the faculty, or the incoming exco at handover.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591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6151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3-paragraph narrative verdict — honest about wins and failures.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266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scorecards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32826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scored against targets: dues, events, meetings, fundraising, membership, comms, AI usage.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21024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941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36941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39502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specific actions for the next leadership cycle, each tied to a data finding.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288536"/>
            <a:ext cx="4160520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36168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361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note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4617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directly to incoming exco — what they are inheriting, good and bad.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2286000"/>
            <a:ext cx="3749040" cy="2670048"/>
          </a:xfrm>
          <a:prstGeom prst="rect">
            <a:avLst/>
          </a:prstGeom>
          <a:solidFill>
            <a:srgbClr val="F8FAFF"/>
          </a:solidFill>
          <a:ln w="10160">
            <a:solidFill>
              <a:srgbClr val="E5E5E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performance scorecard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2651760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5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2907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36208" y="26974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5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218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collection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59168" y="3282696"/>
            <a:ext cx="1234440" cy="11887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9168" y="3282696"/>
            <a:ext cx="839419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2186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20640" y="3529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programs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59168" y="3593592"/>
            <a:ext cx="1234440" cy="11887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3593592"/>
            <a:ext cx="1061618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5295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20640" y="3840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governance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59168" y="3904488"/>
            <a:ext cx="1234440" cy="11887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9168" y="3904488"/>
            <a:ext cx="888797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38404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0640" y="4151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59168" y="4215384"/>
            <a:ext cx="1234440" cy="11887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9168" y="4215384"/>
            <a:ext cx="777697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41513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2064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growth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59168" y="4526280"/>
            <a:ext cx="1234440" cy="11887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9168" y="4526280"/>
            <a:ext cx="112334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4622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" y="4773168"/>
            <a:ext cx="8183880" cy="201168"/>
          </a:xfrm>
          <a:prstGeom prst="rect">
            <a:avLst/>
          </a:prstGeom>
          <a:solidFill>
            <a:srgbClr val="EBF0FE"/>
          </a:solidFill>
          <a:ln w="7620">
            <a:solidFill>
              <a:srgbClr val="C7D7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773168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Claude reads all platform data → scores 7 categories → writes narrative → exports branded PDF  ·  Customisable: toggle categories, set targets, add custom sections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01168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 &amp; NEXT STEPS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530352"/>
            <a:ext cx="813816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is live.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 is what comes next.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1965960" cy="84124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48256"/>
            <a:ext cx="457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23591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deployed on Vercel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quorum-taupe.vercel.app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395728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79192" y="2048256"/>
            <a:ext cx="1965960" cy="84124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2048256"/>
            <a:ext cx="457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07208" y="23591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Render — Swagger docs live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quorum-9djb.onrender.com/docs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5152" y="2395728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55464" y="2048256"/>
            <a:ext cx="1965960" cy="84124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5464" y="2048256"/>
            <a:ext cx="457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3591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meeting minutes,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email notifications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21424" y="2395728"/>
            <a:ext cx="21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31736" y="2048256"/>
            <a:ext cx="1965960" cy="841248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31736" y="2048256"/>
            <a:ext cx="457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9752" y="23591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· all modules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github.com/Sammybams/Quorum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889504"/>
            <a:ext cx="0" cy="274320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832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54480" y="3675888"/>
            <a:ext cx="3383280" cy="822960"/>
          </a:xfrm>
          <a:prstGeom prst="rect">
            <a:avLst/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54480" y="3675888"/>
            <a:ext cx="4572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82496" y="37307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82496" y="3986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+ Flutterwave webhooks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automatic dues &amp; donation confirmation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12080" y="3675888"/>
            <a:ext cx="3383280" cy="822960"/>
          </a:xfrm>
          <a:prstGeom prst="rect">
            <a:avLst/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3675888"/>
            <a:ext cx="4572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0096" y="37307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integrations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0096" y="3986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 transcript sync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+ Outlook email invite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498848"/>
            <a:ext cx="0" cy="201168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46634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466344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6634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463040" y="4663440"/>
            <a:ext cx="2331720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72768" y="466344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Beta — 3 campus bodies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94760" y="4736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023360" y="4663440"/>
            <a:ext cx="2331720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33088" y="466344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analytics report feature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55080" y="4736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83680" y="4663440"/>
            <a:ext cx="2331720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466344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Public launch + onboarding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50208" y="777240"/>
            <a:ext cx="1243584" cy="1243584"/>
          </a:xfrm>
          <a:prstGeom prst="roundRect">
            <a:avLst>
              <a:gd name="adj" fmla="val 17647"/>
            </a:avLst>
          </a:prstGeom>
          <a:solidFill>
            <a:srgbClr val="1B5EF7"/>
          </a:solidFill>
          <a:ln w="12700">
            <a:solidFill>
              <a:srgbClr val="1B5EF7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50208" y="777240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0" y="2176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Quorum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 bodies get things done.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B5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  ·  Built for Nigeria  ·  Expanding across Africa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quorum.ng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67328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hello@quorum.ng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0096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@quorumng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 — Thinkathon Pitch</dc:title>
  <dc:subject>PptxGenJS Presentation</dc:subject>
  <dc:creator>PptxGenJS</dc:creator>
  <cp:lastModifiedBy>PptxGenJS</cp:lastModifiedBy>
  <cp:revision>1</cp:revision>
  <dcterms:created xsi:type="dcterms:W3CDTF">2026-04-24T07:02:34Z</dcterms:created>
  <dcterms:modified xsi:type="dcterms:W3CDTF">2026-04-24T07:02:34Z</dcterms:modified>
</cp:coreProperties>
</file>